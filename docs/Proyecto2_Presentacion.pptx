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· 0:15]</a:t>
            </a:r>
          </a:p>
          <a:p/>
          <a:p>
            <a:r>
              <a:t>Presentarse y presentar el reto en una frase: es una competencia de la ITU, alojada</a:t>
            </a:r>
          </a:p>
          <a:p>
            <a:r>
              <a:t>en Zindi, sobre pronosticar el agua almacenada del planeta. Decir que en 15 minutos</a:t>
            </a:r>
          </a:p>
          <a:p>
            <a:r>
              <a:t>se recorre el problema, los datos, los patrones encontrados y hacia dónde apunta el</a:t>
            </a:r>
          </a:p>
          <a:p>
            <a:r>
              <a:t>modelado. No leer la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· 1:00]</a:t>
            </a:r>
          </a:p>
          <a:p/>
          <a:p>
            <a:r>
              <a:t>Es el concepto clave: si no se entiende qué es el TWS, nada del resto se entiende.</a:t>
            </a:r>
          </a:p>
          <a:p/>
          <a:p>
            <a:r>
              <a:t>Insistir en dos cosas. Primero, que no es solo lluvia: es el balance acumulado, e</a:t>
            </a:r>
          </a:p>
          <a:p>
            <a:r>
              <a:t>incluye acuíferos. Segundo, el mecanismo de medición, que suele sorprender: el</a:t>
            </a:r>
          </a:p>
          <a:p>
            <a:r>
              <a:t>satélite pesa la Tierra, no fotografía el agua.</a:t>
            </a:r>
          </a:p>
          <a:p/>
          <a:p>
            <a:r>
              <a:t>Señalar en el mapa el norte de África y la India en café: son las zonas de menor</a:t>
            </a:r>
          </a:p>
          <a:p>
            <a:r>
              <a:t>almacenamiento promedio. Ese mapa lo produjimos nosotros con los datos del 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· 0:50]</a:t>
            </a:r>
          </a:p>
          <a:p/>
          <a:p>
            <a:r>
              <a:t>Aquí está la justificación del proyecto entero. Vale la pena decirlo despacio.</a:t>
            </a:r>
          </a:p>
          <a:p/>
          <a:p>
            <a:r>
              <a:t>La idea que debe quedar: el problema no es que falte el dato, es que llega tarde.</a:t>
            </a:r>
          </a:p>
          <a:p>
            <a:r>
              <a:t>Un buen ejemplo para dar contexto: si hoy quisiéramos saber si una región está</a:t>
            </a:r>
          </a:p>
          <a:p>
            <a:r>
              <a:t>entrando en sequía, el dato satelital más reciente sería el de hace un trimestre.</a:t>
            </a:r>
          </a:p>
          <a:p/>
          <a:p>
            <a:r>
              <a:t>Cerrar mencionando que la métrica es RMSE, porque volverá a aparecer al final</a:t>
            </a:r>
          </a:p>
          <a:p>
            <a:r>
              <a:t>cuando hablemos de la línea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1 · 0:50]</a:t>
            </a:r>
          </a:p>
          <a:p/>
          <a:p>
            <a:r>
              <a:t>Leer la pregunta científica completa y pausado; es lo que la rúbrica evalúa.</a:t>
            </a:r>
          </a:p>
          <a:p/>
          <a:p>
            <a:r>
              <a:t>Recalcar el último punto: es un EDA, no un modelo. Decidimos deliberadamente no</a:t>
            </a:r>
          </a:p>
          <a:p>
            <a:r>
              <a:t>entrenar nada hasta entender los datos, y eso resultó acertado porque encontramos</a:t>
            </a:r>
          </a:p>
          <a:p>
            <a:r>
              <a:t>cosas que habrían arruinado un modelo hecho a ciegas.</a:t>
            </a:r>
          </a:p>
          <a:p/>
          <a:p>
            <a:r>
              <a:t>Cerrar con la advertencia de causalidad. Se repite al final, pero conviene</a:t>
            </a:r>
          </a:p>
          <a:p>
            <a:r>
              <a:t>plantarla desde ya.</a:t>
            </a:r>
          </a:p>
          <a:p/>
          <a:p>
            <a:r>
              <a:t>Aquí termina el primer bloque: dar paso al siguiente expositor.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2 · 0:45]</a:t>
            </a:r>
          </a:p>
          <a:p/>
          <a:p>
            <a:r>
              <a:t>No leer los números uno por uno: son muchos. Quedarse con dos ideas.</a:t>
            </a:r>
          </a:p>
          <a:p/>
          <a:p>
            <a:r>
              <a:t>Primera: es un dataset grande pero simple de forma. Una fila = un mes en una celda</a:t>
            </a:r>
          </a:p>
          <a:p>
            <a:r>
              <a:t>de un grado.</a:t>
            </a:r>
          </a:p>
          <a:p/>
          <a:p>
            <a:r>
              <a:t>Segunda, y es la que suele pasarse por alto: las variables vienen estandarizadas.</a:t>
            </a:r>
          </a:p>
          <a:p>
            <a:r>
              <a:t>No podemos decir "se perdieron tantos centímetros de agua"; solo podemos hablar de</a:t>
            </a:r>
          </a:p>
          <a:p>
            <a:r>
              <a:t>desviaciones relativas. Lo verificamos: la objetivo tiene media 0.11 y desviación</a:t>
            </a:r>
          </a:p>
          <a:p>
            <a:r>
              <a:t>0.91, que es la firma de una variable estandarizada.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2 · 1:20]</a:t>
            </a:r>
          </a:p>
          <a:p/>
          <a:p>
            <a:r>
              <a:t>Este es el hallazgo del que más orgullosos estamos. Darle tiempo.</a:t>
            </a:r>
          </a:p>
          <a:p/>
          <a:p>
            <a:r>
              <a:t>Contarlo como historia: corrimos el chequeo estándar de calidad, salió impecable,</a:t>
            </a:r>
          </a:p>
          <a:p>
            <a:r>
              <a:t>y por poco damos el dataset por bueno. Al comparar contra el calendario completo</a:t>
            </a:r>
          </a:p>
          <a:p>
            <a:r>
              <a:t>apareció que faltaban 22 meses enteros.</a:t>
            </a:r>
          </a:p>
          <a:p/>
          <a:p>
            <a:r>
              <a:t>La explicación del porqué es lo importante: en formato plano, un mes sin observar</a:t>
            </a:r>
          </a:p>
          <a:p>
            <a:r>
              <a:t>desaparece en lugar de aparecer como nulo. Ninguna herramienta de perfilado</a:t>
            </a:r>
          </a:p>
          <a:p>
            <a:r>
              <a:t>automático lo detecta.</a:t>
            </a:r>
          </a:p>
          <a:p/>
          <a:p>
            <a:r>
              <a:t>Señalar en la gráfica las barras de 2011 a 2014, que pierden entre 4 y 5 meses</a:t>
            </a:r>
          </a:p>
          <a:p>
            <a:r>
              <a:t>cada una. Coincide con los últimos años de operación de GRACE, aunque esa</a:t>
            </a:r>
          </a:p>
          <a:p>
            <a:r>
              <a:t>atribución viene de literatura externa, no de nuestros datos.</a:t>
            </a:r>
          </a:p>
          <a:p/>
          <a:p>
            <a:r>
              <a:t>Cerrar con la consecuencia práctica: al construir rezagos para el modelo, un</a:t>
            </a:r>
          </a:p>
          <a:p>
            <a:r>
              <a:t>shift() ingenuo daría rezagos falsos, porque el registro anterior de una celda no</a:t>
            </a:r>
          </a:p>
          <a:p>
            <a:r>
              <a:t>siempre es el mes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2 · 0:40]</a:t>
            </a:r>
          </a:p>
          <a:p/>
          <a:p>
            <a:r>
              <a:t>Diapositiva rápida, no hace falta detenerse.</a:t>
            </a:r>
          </a:p>
          <a:p/>
          <a:p>
            <a:r>
              <a:t>El mensaje es que no hubo sorpresas: las distribuciones se comportan como se espera</a:t>
            </a:r>
          </a:p>
          <a:p>
            <a:r>
              <a:t>de índices estandarizados, sin colas patológicas ni bimodalidad.</a:t>
            </a:r>
          </a:p>
          <a:p/>
          <a:p>
            <a:r>
              <a:t>La única que vale señalar es la humedad del suelo, abajo a la izquierda: pico</a:t>
            </a:r>
          </a:p>
          <a:p>
            <a:r>
              <a:t>central mucho más alto y estrecho. Eso anticipa la siguiente diapositiva, porque</a:t>
            </a:r>
          </a:p>
          <a:p>
            <a:r>
              <a:t>será la variable con más atípicos.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2 · 1:00]</a:t>
            </a:r>
          </a:p>
          <a:p/>
          <a:p>
            <a:r>
              <a:t>Es una diapositiva de criterio, no de resultado. La rúbrica pide explicar los</a:t>
            </a:r>
          </a:p>
          <a:p>
            <a:r>
              <a:t>atípicos, y la respuesta correcta aquí es no tocarlos.</a:t>
            </a:r>
          </a:p>
          <a:p/>
          <a:p>
            <a:r>
              <a:t>El argumento más fuerte es el segundo: si fueran errores de medición, estarían</a:t>
            </a:r>
          </a:p>
          <a:p>
            <a:r>
              <a:t>repartidos al azar. Se agrupan en años y regiones concretos, y eso es lo que hace</a:t>
            </a:r>
          </a:p>
          <a:p>
            <a:r>
              <a:t>un evento hidrológico real.</a:t>
            </a:r>
          </a:p>
          <a:p/>
          <a:p>
            <a:r>
              <a:t>Mencionar también la limitación del método IQR: marca lo que está lejos del grueso</a:t>
            </a:r>
          </a:p>
          <a:p>
            <a:r>
              <a:t>de la distribución, no lo que está mal. Por eso la humedad del suelo, que es muy</a:t>
            </a:r>
          </a:p>
          <a:p>
            <a:r>
              <a:t>concentrada, sale con diez veces más atípicos sin que eso signifique más errores.</a:t>
            </a:r>
          </a:p>
          <a:p/>
          <a:p>
            <a:r>
              <a:t>Aquí termina el segundo bloque: dar paso al siguiente expositor.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· 1:05]</a:t>
            </a:r>
          </a:p>
          <a:p/>
          <a:p>
            <a:r>
              <a:t>Señalar la línea roja: es la media móvil de 12 meses. Explicar por qué 12 y no otro</a:t>
            </a:r>
          </a:p>
          <a:p>
            <a:r>
              <a:t>número — los datos son mensuales y el ciclo esperado es anual, así que una ventana</a:t>
            </a:r>
          </a:p>
          <a:p>
            <a:r>
              <a:t>de 12 promedia un ciclo completo y cancela la estacionalidad, dejando ver la</a:t>
            </a:r>
          </a:p>
          <a:p>
            <a:r>
              <a:t>tendencia.</a:t>
            </a:r>
          </a:p>
          <a:p/>
          <a:p>
            <a:r>
              <a:t>La caída es visible a simple vista: arranca alrededor de 0.3 en 2004 y termina en</a:t>
            </a:r>
          </a:p>
          <a:p>
            <a:r>
              <a:t>negativo.</a:t>
            </a:r>
          </a:p>
          <a:p/>
          <a:p>
            <a:r>
              <a:t>Explicar el Dickey-Fuller en términos sencillos: es una prueba de si la serie tiene</a:t>
            </a:r>
          </a:p>
          <a:p>
            <a:r>
              <a:t>un nivel estable al que regresa. Con p = 0.53 no podemos afirmar que lo tenga, lo</a:t>
            </a:r>
          </a:p>
          <a:p>
            <a:r>
              <a:t>cual es coherente con ver una tendencia.</a:t>
            </a:r>
          </a:p>
          <a:p/>
          <a:p>
            <a:r>
              <a:t>Anticipar la consecuencia: para modelar habrá que diferenciar la serie o incorporar</a:t>
            </a:r>
          </a:p>
          <a:p>
            <a:r>
              <a:t>la tendencia de forma explícita.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· 1:00]</a:t>
            </a:r>
          </a:p>
          <a:p/>
          <a:p>
            <a:r>
              <a:t>Explicar primero qué es una descomposición, en una frase por componente:</a:t>
            </a:r>
          </a:p>
          <a:p>
            <a:r>
              <a:t>la tendencia es el movimiento de fondo, la estacionalidad el patrón que se repite</a:t>
            </a:r>
          </a:p>
          <a:p>
            <a:r>
              <a:t>cada 12 meses, y el residuo lo que no explican las otras dos.</a:t>
            </a:r>
          </a:p>
          <a:p/>
          <a:p>
            <a:r>
              <a:t>Luego dar los porcentajes. El dato llamativo es el 3 % de estacionalidad: en una</a:t>
            </a:r>
          </a:p>
          <a:p>
            <a:r>
              <a:t>variable hidrológica uno esperaría un ciclo anual fuerte.</a:t>
            </a:r>
          </a:p>
          <a:p/>
          <a:p>
            <a:r>
              <a:t>No resolver el misterio todavía. Plantearlo como pregunta abierta y pasar a la</a:t>
            </a:r>
          </a:p>
          <a:p>
            <a:r>
              <a:t>siguiente diapositiva, que es donde se explica.</a:t>
            </a:r>
          </a:p>
          <a:p/>
          <a:p>
            <a:r>
              <a:t>Nota técnica por si preguntan: para descomponer hubo que rellenar los 22 meses</a:t>
            </a:r>
          </a:p>
          <a:p>
            <a:r>
              <a:t>ausentes por interpolación, porque la función no admite huecos. Esa interpolación</a:t>
            </a:r>
          </a:p>
          <a:p>
            <a:r>
              <a:t>se usó solo aquí y no se propagó al resto del análisis.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· 1:20]</a:t>
            </a:r>
          </a:p>
          <a:p/>
          <a:p>
            <a:r>
              <a:t>Esta es la diapositiva más importante del bloque y la lección metodológica del</a:t>
            </a:r>
          </a:p>
          <a:p>
            <a:r>
              <a:t>proyecto. Darle tiempo.</a:t>
            </a:r>
          </a:p>
          <a:p/>
          <a:p>
            <a:r>
              <a:t>Señalar las dos curvas de la izquierda: la azul es el norte, la naranja el sur. Van</a:t>
            </a:r>
          </a:p>
          <a:p>
            <a:r>
              <a:t>en direcciones opuestas. Cuando se promedian, se cancelan, y por eso la</a:t>
            </a:r>
          </a:p>
          <a:p>
            <a:r>
              <a:t>descomposición global mostraba apenas 3 % de estacionalidad.</a:t>
            </a:r>
          </a:p>
          <a:p/>
          <a:p>
            <a:r>
              <a:t>La conclusión que debe quedar: no es que el agua no tenga ciclo anual. Es que una</a:t>
            </a:r>
          </a:p>
          <a:p>
            <a:r>
              <a:t>serie agregada globalmente no es el objeto adecuado para estudiarlo.</a:t>
            </a:r>
          </a:p>
          <a:p/>
          <a:p>
            <a:r>
              <a:t>Agregar el matiz del desbalance: como el 80 % de las celdas están en el norte, la</a:t>
            </a:r>
          </a:p>
          <a:p>
            <a:r>
              <a:t>serie "global" es en buena medida la serie del hemisferio norte.</a:t>
            </a:r>
          </a:p>
          <a:p/>
          <a:p>
            <a:r>
              <a:t>Si hay tiempo, mencionar que al cruzar banda de latitud contra mes el ciclo anual</a:t>
            </a:r>
          </a:p>
          <a:p>
            <a:r>
              <a:t>reaparece con claridad dentro de cada región.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3 · 0:50]</a:t>
            </a:r>
          </a:p>
          <a:p/>
          <a:p>
            <a:r>
              <a:t>Refuerza el mensaje anterior con evidencia espacial.</a:t>
            </a:r>
          </a:p>
          <a:p/>
          <a:p>
            <a:r>
              <a:t>La idea: no solo los hemisferios difieren, también las bandas de latitud dentro de</a:t>
            </a:r>
          </a:p>
          <a:p>
            <a:r>
              <a:t>un mismo hemisferio. Media desviación estándar de diferencia entre la banda</a:t>
            </a:r>
          </a:p>
          <a:p>
            <a:r>
              <a:t>tropical norte y la subtropical norte es mucho.</a:t>
            </a:r>
          </a:p>
          <a:p/>
          <a:p>
            <a:r>
              <a:t>El detalle interesante es que la banda tropical norte es a la vez la de menor media</a:t>
            </a:r>
          </a:p>
          <a:p>
            <a:r>
              <a:t>y la de mayor rango: la región más seca en promedio es también donde ocurren los</a:t>
            </a:r>
          </a:p>
          <a:p>
            <a:r>
              <a:t>eventos más extremos.</a:t>
            </a:r>
          </a:p>
          <a:p/>
          <a:p>
            <a:r>
              <a:t>Aquí termina el tercer bloque: dar paso al último expositor.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4 · 1:05]</a:t>
            </a:r>
          </a:p>
          <a:p/>
          <a:p>
            <a:r>
              <a:t>Dos mensajes.</a:t>
            </a:r>
          </a:p>
          <a:p/>
          <a:p>
            <a:r>
              <a:t>El primero: la persistencia domina. El mejor predictor del agua del mes siguiente es</a:t>
            </a:r>
          </a:p>
          <a:p>
            <a:r>
              <a:t>el agua del mes actual, con 0.803, más del doble que cualquier covariable. El agua</a:t>
            </a:r>
          </a:p>
          <a:p>
            <a:r>
              <a:t>almacenada tiene mucha inercia.</a:t>
            </a:r>
          </a:p>
          <a:p/>
          <a:p>
            <a:r>
              <a:t>El segundo es el más interesante y conviene contarlo bien: los cuatro SPEI se</a:t>
            </a:r>
          </a:p>
          <a:p>
            <a:r>
              <a:t>ordenan exactamente por su escala de acumulación, de 12 meses a 1 mes. Nosotros</a:t>
            </a:r>
          </a:p>
          <a:p>
            <a:r>
              <a:t>habíamos planteado esa expectativa antes de mirar los datos, razonando que el TWS</a:t>
            </a:r>
          </a:p>
          <a:p>
            <a:r>
              <a:t>integra agua subterránea, que responde lento. Los datos la confirmaron. Fue una</a:t>
            </a:r>
          </a:p>
          <a:p>
            <a:r>
              <a:t>hipótesis verificada, no una suposición.</a:t>
            </a:r>
          </a:p>
          <a:p/>
          <a:p>
            <a:r>
              <a:t>Cerrar con la advertencia de causalidad, que es explícita en la rúbrica.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4 · 0:55]</a:t>
            </a:r>
          </a:p>
          <a:p/>
          <a:p>
            <a:r>
              <a:t>Es la diapositiva que conecta el EDA con la etapa de modelado.</a:t>
            </a:r>
          </a:p>
          <a:p/>
          <a:p>
            <a:r>
              <a:t>Explicar la idea de línea base: antes de construir algo complejo hay que saber qué</a:t>
            </a:r>
          </a:p>
          <a:p>
            <a:r>
              <a:t>tan lejos llega lo trivial. Aquí lo trivial llega bastante lejos, porque el sistema</a:t>
            </a:r>
          </a:p>
          <a:p>
            <a:r>
              <a:t>tiene inercia.</a:t>
            </a:r>
          </a:p>
          <a:p/>
          <a:p>
            <a:r>
              <a:t>Señalar la gráfica de la derecha: el RMSE de la persistencia mes a mes. No es</a:t>
            </a:r>
          </a:p>
          <a:p>
            <a:r>
              <a:t>constante, lo que sugiere que hay periodos más difíciles de predecir que otros.</a:t>
            </a:r>
          </a:p>
          <a:p/>
          <a:p>
            <a:r>
              <a:t>El número a recordar es 0.5724. Si el modelo del próximo proyecto no baja de ahí,</a:t>
            </a:r>
          </a:p>
          <a:p>
            <a:r>
              <a:t>no sirve.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4 · 0:50]</a:t>
            </a:r>
          </a:p>
          <a:p/>
          <a:p>
            <a:r>
              <a:t>No leer los ocho puntos: la audiencia los tiene en pantalla. Elegir tres y</a:t>
            </a:r>
          </a:p>
          <a:p>
            <a:r>
              <a:t>comentarlos.</a:t>
            </a:r>
          </a:p>
          <a:p/>
          <a:p>
            <a:r>
              <a:t>Los que más valor tienen: el de los meses faltantes, porque es el que no detecta</a:t>
            </a:r>
          </a:p>
          <a:p>
            <a:r>
              <a:t>ninguna herramienta automática; el de la verificación de la variable objetivo,</a:t>
            </a:r>
          </a:p>
          <a:p>
            <a:r>
              <a:t>porque muestra que no confiamos en la documentación sino que lo comprobamos; y el</a:t>
            </a:r>
          </a:p>
          <a:p>
            <a:r>
              <a:t>de la estacionalidad, por la lección metodológica.</a:t>
            </a:r>
          </a:p>
          <a:p/>
          <a:p>
            <a:r>
              <a:t>Mencionar que cada hallazgo está respaldado por una tabla o una figura del</a:t>
            </a:r>
          </a:p>
          <a:p>
            <a:r>
              <a:t>notebook, que es público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[Integrante 4 · 1:00]</a:t>
            </a:r>
          </a:p>
          <a:p/>
          <a:p>
            <a:r>
              <a:t>Cerrar conectando con los objetivos del inicio: los seis se cumplieron y cada uno</a:t>
            </a:r>
          </a:p>
          <a:p>
            <a:r>
              <a:t>se retoma explícitamente en las conclusiones del informe.</a:t>
            </a:r>
          </a:p>
          <a:p/>
          <a:p>
            <a:r>
              <a:t>De los próximos pasos, destacar dos. El del enmascaramiento es el más delicado: en</a:t>
            </a:r>
          </a:p>
          <a:p>
            <a:r>
              <a:t>el conjunto de prueba, dos tercios de las filas no tienen el TWS del mes actual, y</a:t>
            </a:r>
          </a:p>
          <a:p>
            <a:r>
              <a:t>esa es justamente la variable más predictiva. El modelo tendrá que funcionar sin</a:t>
            </a:r>
          </a:p>
          <a:p>
            <a:r>
              <a:t>ella la mayor parte del tiempo, y hay que reproducir esa condición al validar.</a:t>
            </a:r>
          </a:p>
          <a:p/>
          <a:p>
            <a:r>
              <a:t>El otro es el de los rezagos, que enlaza con el hallazgo de los meses faltantes.</a:t>
            </a:r>
          </a:p>
          <a:p/>
          <a:p>
            <a:r>
              <a:t>Terminar agradeciendo y abriendo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1F3A5F"/>
                </a:solidFill>
              </a:defRPr>
            </a:pPr>
            <a:r>
              <a:t>A Step Ahead of Drought</a:t>
            </a:r>
          </a:p>
          <a:p>
            <a:pPr>
              <a:defRPr sz="2200">
                <a:solidFill>
                  <a:srgbClr val="0F6E63"/>
                </a:solidFill>
              </a:defRPr>
            </a:pPr>
            <a:r>
              <a:t>Pronóstico global de almacenamiento de agua · Reto ITU</a:t>
            </a:r>
          </a:p>
          <a:p>
            <a:pPr>
              <a:defRPr sz="2000">
                <a:solidFill>
                  <a:srgbClr val="444A52"/>
                </a:solidFill>
              </a:defRPr>
            </a:pPr>
            <a:r>
              <a:t>Proyecto 2 — Análisis Exploratorio</a:t>
            </a:r>
          </a:p>
          <a:p>
            <a:pPr>
              <a:defRPr sz="1500">
                <a:solidFill>
                  <a:srgbClr val="444A52"/>
                </a:solidFill>
              </a:defRPr>
            </a:pPr>
            <a:r>
              <a:t>CC3084 Data Science · Universidad del Valle de Guatemala · Semestre II 2026</a:t>
            </a:r>
          </a:p>
          <a:p>
            <a:pPr>
              <a:defRPr sz="1400">
                <a:solidFill>
                  <a:srgbClr val="444A52"/>
                </a:solidFill>
              </a:defRPr>
            </a:pPr>
            <a:r>
              <a:t>Integrantes: ______________________</a:t>
            </a:r>
          </a:p>
          <a:p>
            <a:pPr>
              <a:defRPr sz="1200">
                <a:solidFill>
                  <a:srgbClr val="0F6E63"/>
                </a:solidFill>
              </a:defRPr>
            </a:pPr>
            <a:r>
              <a:t>https://github.com/Javiervalladares1/CC3084-Proyecto2-Drought-EDA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¿Qué es el almacenamiento total de agua?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El TWS (Total Water Storage) es toda el agua de un territorio: subterránea, humedad del suelo, superficial, nieve y hielo.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Las misiones satelitales GRACE y GRACE-FO no lo ven directamente: miden variaciones del campo gravitatorio terrestre.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Como el agua tiene masa, un cambio en el almacenamiento cambia la gravedad local. De esa señal se deriva el TWS.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Es el mejor indicador integrado de sequía hidrológica a gran escala, porque incluye el agua subterránea.</a:t>
            </a:r>
          </a:p>
        </p:txBody>
      </p:sp>
      <p:pic>
        <p:nvPicPr>
          <p:cNvPr id="4" name="Picture 3" descr="18_mapa_prome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28800"/>
            <a:ext cx="6035040" cy="3275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Medimos el agua del planeta pesándolo desde el espacio.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El problema: la información llega tarde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44A52"/>
                </a:solidFill>
              </a:defRPr>
            </a:pPr>
            <a:r>
              <a:t>•  La sequía se instala despacio. Cuando ya se ve en los cultivos o en los pozos, el déficit lleva meses acumulándose.</a:t>
            </a:r>
          </a:p>
          <a:p>
            <a:pPr>
              <a:spcAft>
                <a:spcPts val="800"/>
              </a:spcAft>
              <a:defRPr sz="1700">
                <a:solidFill>
                  <a:srgbClr val="444A52"/>
                </a:solidFill>
              </a:defRPr>
            </a:pPr>
            <a:r>
              <a:t>•  Los productos derivados de GRACE se publican con un retraso de 2 a 3 meses.</a:t>
            </a:r>
          </a:p>
          <a:p>
            <a:pPr>
              <a:spcAft>
                <a:spcPts val="800"/>
              </a:spcAft>
              <a:defRPr sz="1700">
                <a:solidFill>
                  <a:srgbClr val="444A52"/>
                </a:solidFill>
              </a:defRPr>
            </a:pPr>
            <a:r>
              <a:t>•  Para una alerta temprana se necesita el estado actual del sistema; lo que hay disponible es el estado de hace un trimestre.</a:t>
            </a:r>
          </a:p>
          <a:p>
            <a:pPr>
              <a:spcAft>
                <a:spcPts val="800"/>
              </a:spcAft>
              <a:defRPr sz="1700">
                <a:solidFill>
                  <a:srgbClr val="444A52"/>
                </a:solidFill>
              </a:defRPr>
            </a:pPr>
            <a:r>
              <a:t>•  El reto pide predecir el TWS del mes siguiente a partir de la información del mes actual. La métrica de evaluación es el RMSE.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La información existe, pero llega tarde para sostener una decisión.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Problema científico y 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Pregunta: ¿qué patrones temporales, estacionales y espaciales presenta el TWS, y qué variables del mes actual se asocian más con el valor del mes siguiente?</a:t>
            </a:r>
          </a:p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Objetivo general: caracterizar esos patrones para sustentar un modelo posterior de pronóstico a un mes.</a:t>
            </a:r>
          </a:p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Seis objetivos específicos: describir la estructura, evaluar la calidad, analizar el comportamiento temporal, comparar regiones, medir asociaciones e identificar variables candidatas.</a:t>
            </a:r>
          </a:p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Esta etapa es exploratoria: el objetivo no era construir el modelo, sino entender el problema antes de modelarlo.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Una pregunta descriptiva y asociativa: en ningún momento afirmamos causalidad.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Descripción del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2 154 021 observaciones de entrenamiento y 280 961 de prueba, con 13 variables.</a:t>
            </a:r>
          </a:p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Rejilla global de 1°, con 15 715 celdas, de −55.5° a 83.5° de latitud.</a:t>
            </a:r>
          </a:p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Periodo de entrenamiento: mayo 2002 a agosto 2015 (138 meses observados).</a:t>
            </a:r>
          </a:p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Formato plano: una fila por combinación de mes y celda.</a:t>
            </a:r>
          </a:p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Variables: TWS_t, SPEI a 1/3/6/12 meses, humedad del suelo y la variable objetivo (TWS del mes siguiente).</a:t>
            </a:r>
          </a:p>
          <a:p>
            <a:pPr>
              <a:spcAft>
                <a:spcPts val="800"/>
              </a:spcAft>
              <a:defRPr sz="1600">
                <a:solidFill>
                  <a:srgbClr val="444A52"/>
                </a:solidFill>
              </a:defRPr>
            </a:pPr>
            <a:r>
              <a:t>•  Todas están estandarizadas y son adimensionales: no son centímetros de agua.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Una fila por mes y por celda del planeta.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Calidad de los datos: lo que el conteo de nulos no 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Cero valores nulos en las 13 columnas. Cero duplicados. Cero identificadores repetidos.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Y sin embargo faltaba el 14 % del periodo.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El formato es plano: si un mes no se observó, no genera filas — en vez de generar NaN. El conteo de nulos no puede detectarlo.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Faltan 22 de los 160 meses del calendario, concentrados en 2002–2003 y 2011–2014. Los años 2004 a 2010 están completos.</a:t>
            </a:r>
          </a:p>
        </p:txBody>
      </p:sp>
      <p:pic>
        <p:nvPicPr>
          <p:cNvPr id="4" name="Picture 3" descr="10_cobertur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94560"/>
            <a:ext cx="5760720" cy="22806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isna().sum() daba cero y aun así faltaba el 14 % del periodo.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Distribuciones de las variables</a:t>
            </a:r>
          </a:p>
        </p:txBody>
      </p:sp>
      <p:pic>
        <p:nvPicPr>
          <p:cNvPr id="3" name="Picture 2" descr="14_histograma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5852160" cy="43770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4630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Todas unimodales y casi simétricas: la asimetría va de −0.14 a 0.09.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Media y mediana casi coinciden en cada variable.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No hay señal de mezcla de poblaciones: ningún segundo máximo.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La humedad del suelo es la más concentrada (IQR 0.95) pero con el rango más amplio (10.49): casi todo cerca de lo normal y unos pocos valores muy lejos.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Distribuciones limpias: es lo esperable de índices estandarizados.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Valores atípicos: por qué no los eliminamos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Por criterio IQR: 0.25 % en la variable objetivo, 2.58 % en humedad del suelo.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Decisión: no se eliminó ninguno. Los extremos llegan a −3.97 y 4.06, magnitudes plausibles; no hay valores imposibles ni códigos centinela como −9999.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 razón de fondo se ve abajo: no se reparten al azar. Se agrupan en años y en regiones concretos, que es la firma de eventos reales, no de errores de medición.</a:t>
            </a:r>
          </a:p>
        </p:txBody>
      </p:sp>
      <p:pic>
        <p:nvPicPr>
          <p:cNvPr id="4" name="Picture 3" descr="15_atipicos_tiempo_espa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10515600" cy="29028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Eliminar los atípicos habría sido borrar el fenómeno de interés.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Patrones temporales: una tendencia descendente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El promedio anual cae de 0.322 en 2004 a −0.136 en 2015.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 serie no es estacionaria en media: prueba de Dickey-Fuller con p = 0.526, no se rechaza la raíz unitaria.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No depende de cómo se agregue: el promedio simple y el ponderado por área correlacionan 0.936.</a:t>
            </a:r>
          </a:p>
        </p:txBody>
      </p:sp>
      <p:pic>
        <p:nvPicPr>
          <p:cNvPr id="4" name="Picture 3" descr="16_media_mo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514600"/>
            <a:ext cx="9235440" cy="3678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El registro muestra un descenso sostenido, y la serie tiene memoria larga.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Descomposición: ¿dónde está la variabilidad?</a:t>
            </a:r>
          </a:p>
        </p:txBody>
      </p:sp>
      <p:pic>
        <p:nvPicPr>
          <p:cNvPr id="3" name="Picture 2" descr="17_descomposi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6400800" cy="42096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23760" y="155448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 serie se separa en tendencia, estacionalidad y residuo.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Tendencia:  64 % de la varianza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Residuo:  18 %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Estacionalidad:  3 %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El ciclo anual casi no aparece en la serie global. Ese resultado nos sorprendió y motivó la siguiente diapositiva.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La tendencia manda; el ciclo anual, en apariencia, casi no existe.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La estacionalidad que casi no vemos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 causa: los hemisferios tienen ciclos opuestos y se cancelan al promediarse.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El hemisferio norte promedia positivo los doce meses; el sur cae hasta −0.105 en junio.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Además el conjunto está desbalanceado: el 80.3 % de las celdas están en el norte.</a:t>
            </a:r>
          </a:p>
        </p:txBody>
      </p:sp>
      <p:pic>
        <p:nvPicPr>
          <p:cNvPr id="4" name="Picture 3" descr="17_perfil_est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651760"/>
            <a:ext cx="9601200" cy="29486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Promediar el planeta entero borra el fenómeno. Hay que mirar por región.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Cada región se comporta distinto</a:t>
            </a:r>
          </a:p>
        </p:txBody>
      </p:sp>
      <p:pic>
        <p:nvPicPr>
          <p:cNvPr id="3" name="Picture 2" descr="18_series_por_ba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583680" cy="30638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554480"/>
            <a:ext cx="4297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444A52"/>
                </a:solidFill>
              </a:defRPr>
            </a:pPr>
            <a:r>
              <a:t>•  Tropical norte: media −0.222, la más baja.</a:t>
            </a:r>
          </a:p>
          <a:p>
            <a:pPr>
              <a:spcAft>
                <a:spcPts val="800"/>
              </a:spcAft>
              <a:defRPr sz="1300">
                <a:solidFill>
                  <a:srgbClr val="444A52"/>
                </a:solidFill>
              </a:defRPr>
            </a:pPr>
            <a:r>
              <a:t>•  Subtropical norte: 0.327, la más alta.</a:t>
            </a:r>
          </a:p>
          <a:p>
            <a:pPr>
              <a:spcAft>
                <a:spcPts val="800"/>
              </a:spcAft>
              <a:defRPr sz="1300">
                <a:solidFill>
                  <a:srgbClr val="444A52"/>
                </a:solidFill>
              </a:defRPr>
            </a:pPr>
            <a:r>
              <a:t>•  Entre ambas hay media desviación estándar de diferencia.</a:t>
            </a:r>
          </a:p>
          <a:p>
            <a:pPr>
              <a:spcAft>
                <a:spcPts val="800"/>
              </a:spcAft>
              <a:defRPr sz="1300">
                <a:solidFill>
                  <a:srgbClr val="444A52"/>
                </a:solidFill>
              </a:defRPr>
            </a:pPr>
            <a:r>
              <a:t>•  La banda tropical norte concentra además el mínimo (−3.97) y el máximo (4.06) absolutos: es donde ocurren las anomalías más pronunciadas en ambos sentidos.</a:t>
            </a:r>
          </a:p>
          <a:p>
            <a:pPr>
              <a:spcAft>
                <a:spcPts val="800"/>
              </a:spcAft>
              <a:defRPr sz="1300">
                <a:solidFill>
                  <a:srgbClr val="444A52"/>
                </a:solidFill>
              </a:defRPr>
            </a:pPr>
            <a:r>
              <a:t>•  La banda polar sur no tiene ninguna observación: la Antártida queda 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El promedio global no representa a ninguna región en particular.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Principales relaciones entre variables</a:t>
            </a:r>
          </a:p>
        </p:txBody>
      </p:sp>
      <p:pic>
        <p:nvPicPr>
          <p:cNvPr id="3" name="Picture 2" descr="19_matriz_corre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4937760" cy="4343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0" y="132588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Correlación con la variable objetivo:</a:t>
            </a:r>
          </a:p>
          <a:p>
            <a:pPr>
              <a:spcAft>
                <a:spcPts val="800"/>
              </a:spcAft>
              <a:defRPr sz="1200">
                <a:solidFill>
                  <a:srgbClr val="444A52"/>
                </a:solidFill>
              </a:defRPr>
            </a:pPr>
            <a:r>
              <a:t>    TWS del mes actual  ·  0.803</a:t>
            </a:r>
          </a:p>
          <a:p>
            <a:pPr>
              <a:spcAft>
                <a:spcPts val="800"/>
              </a:spcAft>
              <a:defRPr sz="1200">
                <a:solidFill>
                  <a:srgbClr val="444A52"/>
                </a:solidFill>
              </a:defRPr>
            </a:pPr>
            <a:r>
              <a:t>    SPEI a 12 meses  ·  0.380</a:t>
            </a:r>
          </a:p>
          <a:p>
            <a:pPr>
              <a:spcAft>
                <a:spcPts val="800"/>
              </a:spcAft>
              <a:defRPr sz="1200">
                <a:solidFill>
                  <a:srgbClr val="444A52"/>
                </a:solidFill>
              </a:defRPr>
            </a:pPr>
            <a:r>
              <a:t>    SPEI a 6 meses  ·  0.368</a:t>
            </a:r>
          </a:p>
          <a:p>
            <a:pPr>
              <a:spcAft>
                <a:spcPts val="800"/>
              </a:spcAft>
              <a:defRPr sz="1200">
                <a:solidFill>
                  <a:srgbClr val="444A52"/>
                </a:solidFill>
              </a:defRPr>
            </a:pPr>
            <a:r>
              <a:t>    Humedad del suelo  ·  0.320</a:t>
            </a:r>
          </a:p>
          <a:p>
            <a:pPr>
              <a:spcAft>
                <a:spcPts val="800"/>
              </a:spcAft>
              <a:defRPr sz="1200">
                <a:solidFill>
                  <a:srgbClr val="444A52"/>
                </a:solidFill>
              </a:defRPr>
            </a:pPr>
            <a:r>
              <a:t>    SPEI a 3 meses  ·  0.285</a:t>
            </a:r>
          </a:p>
          <a:p>
            <a:pPr>
              <a:spcAft>
                <a:spcPts val="800"/>
              </a:spcAft>
              <a:defRPr sz="1200">
                <a:solidFill>
                  <a:srgbClr val="444A52"/>
                </a:solidFill>
              </a:defRPr>
            </a:pPr>
            <a:r>
              <a:t>    SPEI a 1 mes  ·  0.204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Los SPEI se ordenan exactamente por escala de acumulación.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Relaciones lineales: Pearson y Spearman difieren 0.024 como máximo.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Asociación, no causalidad: que se muevan juntas no prueba que una determine a la otra.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La línea base que hay que superar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Si el agua tiene tanta inercia, la regla más simple ya predice bien: «el mes que viene será como este».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Esa regla se llama línea base de persistencia y da RMSE 0.5724, equivalente al 62.8 % de la desviación estándar de la objetivo.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Como la métrica del reto es el RMSE, ese número es la referencia concreta: un modelo que no baje de 0.5724 no aporta nada.</a:t>
            </a:r>
          </a:p>
        </p:txBody>
      </p:sp>
      <p:pic>
        <p:nvPicPr>
          <p:cNvPr id="4" name="Picture 3" descr="19_linea_base_persist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651760"/>
            <a:ext cx="9601200" cy="29533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Todo modelo futuro se mide contra este número.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Hallazgos más importantes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Sin nulos ni duplicados, pero faltan 22 meses completos del calendario.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 variable objetivo es el TWS del mes calendario t+1 — lo verificamos celda por celda, no lo dimos por supuesto.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Las variables están estandarizadas: no admiten lectura como volumen físico.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Tendencia descendente y serie no estacionaria en media.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 estacionalidad se cancela globalmente, pero existe por región.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Desbalance espacial: 80 % de las observaciones en el hemisferio norte.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 persistencia domina, con correlación 0.803.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Línea base a superar: RMSE 0.5724.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Conclusiones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El problema de calidad no eran los nulos, era la cobertura del calendario.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El promedio global no representa a ninguna región: hay que analizar por zona.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La inercia del sistema es la señal más fuerte disponible.</a:t>
            </a:r>
          </a:p>
          <a:p>
            <a:pPr>
              <a:spcAft>
                <a:spcPts val="800"/>
              </a:spcAft>
              <a:defRPr sz="1500">
                <a:solidFill>
                  <a:srgbClr val="444A52"/>
                </a:solidFill>
              </a:defRPr>
            </a:pPr>
            <a:r>
              <a:t>•  El análisis es descriptivo y asociativo: no establecemos causalidad.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18872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Reportar siempre contra la línea base (RMSE 0.5724).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Construir rezagos respetando los meses ausentes.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Incorporar la dimensión regional y validar por regiones.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Tratar la tendencia de forma explícita.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Priorizar los SPEI de escala larga (12 y 6 meses).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Validación cronológica, nunca aleatoria.</a:t>
            </a:r>
          </a:p>
          <a:p>
            <a:pPr>
              <a:spcAft>
                <a:spcPts val="800"/>
              </a:spcAft>
              <a:defRPr sz="1400">
                <a:solidFill>
                  <a:srgbClr val="444A52"/>
                </a:solidFill>
              </a:defRPr>
            </a:pPr>
            <a:r>
              <a:t>•  Manejar el enmascaramiento del 66.53 % de TWS_t en el conjunto de prueba.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6E63"/>
                </a:solidFill>
              </a:defRPr>
            </a:pPr>
            <a:r>
              <a:t>Conclusiones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9144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6E63"/>
                </a:solidFill>
              </a:defRPr>
            </a:pPr>
            <a:r>
              <a:t>Próximos pasos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115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 b="1">
                <a:solidFill>
                  <a:srgbClr val="0F6E63"/>
                </a:solidFill>
              </a:defRPr>
            </a:pPr>
            <a:r>
              <a:t>Gracias.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